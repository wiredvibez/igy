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00" r:id="rId15"/>
    <p:sldId id="274" r:id="rId16"/>
    <p:sldId id="278" r:id="rId17"/>
    <p:sldId id="299" r:id="rId18"/>
    <p:sldId id="293" r:id="rId19"/>
    <p:sldId id="295" r:id="rId20"/>
    <p:sldId id="29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CC732457-CAD7-6556-202D-3F8A027E4FC3}">
          <p14:sldIdLst>
            <p14:sldId id="256"/>
          </p14:sldIdLst>
        </p14:section>
        <p14:section name="סבב היכרות" id="{8109929C-DF5A-ECCD-6589-5487B668029B}">
          <p14:sldIdLst>
            <p14:sldId id="258"/>
            <p14:sldId id="259"/>
            <p14:sldId id="260"/>
          </p14:sldIdLst>
        </p14:section>
        <p14:section name="מסכים או לא מסכים" id="{93E32C0A-91E4-2E59-220C-1A3E8BF8C4B9}">
          <p14:sldIdLst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300"/>
          </p14:sldIdLst>
        </p14:section>
        <p14:section name="קולאז׳ תמונות" id="{714CB142-C02B-D5A0-5D81-4D5691848871}">
          <p14:sldIdLst>
            <p14:sldId id="274"/>
          </p14:sldIdLst>
        </p14:section>
        <p14:section name="הפסקה ומשחק" id="{F9ABC98C-D4F6-9A69-322D-CA74A8DA9E6E}">
          <p14:sldIdLst>
            <p14:sldId id="278"/>
            <p14:sldId id="299"/>
          </p14:sldIdLst>
        </p14:section>
        <p14:section name="קפסולת זמן" id="{F2D2F061-F746-F56A-2D2E-630396F5FFF7}">
          <p14:sldIdLst>
            <p14:sldId id="293"/>
            <p14:sldId id="29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81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שקופית פתיחה. משאירים אותה על המסך בזמן שכולן נכנסות ומתיישבות.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סבב היכרות, כ־15 דקות.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אחת בתורה: שם, לשון פנייה, ותשובה לאחת השאלות בשקופית הבאה.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השאלות לבחירה. אפשר להשאיר על המסך לאורך כל הסבב.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מסכים, כ־15 דקות. מחלקות את החדר לשני צדדים.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העדפה: חורף (ימין) או קיץ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"אסור לדבר בזמן שרואים סרט (גם בבית!)".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העדפה: מלוח (ימין) או מתוק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עדיף לאבד?: מוזיקה (ימין) או סרטים וסדרות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בשביל מה באים לאיגי?: בשביל החברים (ימין) או בשביל התוכן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"יש לכל חבר בקבוצה אחריות על האווירה, לא רק למדריכים".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"צריך להימנע מלדבר על נושאים רגישים, גם אם זה נושא חשוב".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"קונפליקטים בדיון זה דבר חיובי ואפילו רצוי".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65BC-73DB-6703-944C-DF3A337F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74989-5A36-0849-BA05-F6FEF2F8E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6F784-F611-C78F-5F53-FC435355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"קונפליקטים בדיון זה דבר חיובי ואפילו רצוי".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4632C-F310-1A79-8483-42091F952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1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קולאז׳ תמונות, כ־10 דקות. אחרי ההסבר עוברות למסך הקולאז׳ (האתר) עם הקוד לסריקה.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הפסקה אופציונלית, 5–10 דקות. אפשר לדלג על השקופית אם לא עושות הפסקה.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3DB2-CCEB-29AF-82BD-1C72E27C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CB2F5-8A02-742A-1B67-B2E600E93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5C5CF-CE21-0ED1-D6DE-28270AB3E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הפסקה אופציונלית, 5–10 דקות. אפשר לדלג על השקופית אם לא עושות הפסקה.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0AE95-C4CA-878F-D6C6-68D603E62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03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קפסולת זמן, כ־15 דקות. מחלקות דפים, מעטפות, מדבקות וטושים.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כותבים: איחולים לעצמי (בכל נושא, לא רק איגי) ושאלות לעצמי של סוף השנה.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סיום. אפשר להשאיר על המסך בזמן שמכניסות את המעטפות לקופסה.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PBER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image-galery-theta.vercel.app/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594360" y="2468880"/>
            <a:ext cx="1417320" cy="1417320"/>
          </a:xfrm>
          <a:prstGeom prst="rect">
            <a:avLst/>
          </a:prstGeom>
        </p:spPr>
      </p:pic>
      <p:pic>
        <p:nvPicPr>
          <p:cNvPr id="4" name="pop 2" descr="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9966960" y="777240"/>
            <a:ext cx="1234440" cy="1234440"/>
          </a:xfrm>
          <a:prstGeom prst="rect">
            <a:avLst/>
          </a:prstGeom>
        </p:spPr>
      </p:pic>
      <p:pic>
        <p:nvPicPr>
          <p:cNvPr id="5" name="pop 3" descr="Mus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1371600" y="4846320"/>
            <a:ext cx="1143000" cy="1143000"/>
          </a:xfrm>
          <a:prstGeom prst="rect">
            <a:avLst/>
          </a:prstGeom>
        </p:spPr>
      </p:pic>
      <p:pic>
        <p:nvPicPr>
          <p:cNvPr id="6" name="pop 4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80000">
            <a:off x="9784080" y="4800600"/>
            <a:ext cx="1371600" cy="1371600"/>
          </a:xfrm>
          <a:prstGeom prst="rect">
            <a:avLst/>
          </a:prstGeom>
        </p:spPr>
      </p:pic>
      <p:sp>
        <p:nvSpPr>
          <p:cNvPr id="7" name="pop 5"/>
          <p:cNvSpPr txBox="1"/>
          <p:nvPr/>
        </p:nvSpPr>
        <p:spPr>
          <a:xfrm rot="-180000">
            <a:off x="2441448" y="1783080"/>
            <a:ext cx="7315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פעולת פתיחה</a:t>
            </a:r>
            <a:endParaRPr lang="he-IL" sz="8800" dirty="0"/>
          </a:p>
        </p:txBody>
      </p:sp>
      <p:sp>
        <p:nvSpPr>
          <p:cNvPr id="8" name="drop 6"/>
          <p:cNvSpPr txBox="1"/>
          <p:nvPr/>
        </p:nvSpPr>
        <p:spPr>
          <a:xfrm rot="150000">
            <a:off x="4434840" y="3520440"/>
            <a:ext cx="3337560" cy="96012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היכרות!</a:t>
            </a:r>
            <a:endParaRPr lang="he-IL" sz="5000" dirty="0"/>
          </a:p>
        </p:txBody>
      </p:sp>
      <p:sp>
        <p:nvSpPr>
          <p:cNvPr id="9" name="rise 7"/>
          <p:cNvSpPr txBox="1"/>
          <p:nvPr/>
        </p:nvSpPr>
        <p:spPr>
          <a:xfrm>
            <a:off x="3721608" y="4983480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תיכון כפ״ס · 14.10.2026</a:t>
            </a:r>
            <a:endParaRPr lang="he-IL" sz="2400" dirty="0"/>
          </a:p>
        </p:txBody>
      </p:sp>
      <p:pic>
        <p:nvPicPr>
          <p:cNvPr id="45" name="pride heart 1" descr="לב בצבעי הגאווה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8303" y="5870448"/>
            <a:ext cx="566928" cy="566928"/>
          </a:xfrm>
          <a:prstGeom prst="rect">
            <a:avLst/>
          </a:prstGeom>
        </p:spPr>
      </p:pic>
      <p:pic>
        <p:nvPicPr>
          <p:cNvPr id="46" name="pride heart 2" descr="לב בצבעי הגאווה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935" y="5870448"/>
            <a:ext cx="566928" cy="566928"/>
          </a:xfrm>
          <a:prstGeom prst="rect">
            <a:avLst/>
          </a:prstGeom>
        </p:spPr>
      </p:pic>
      <p:pic>
        <p:nvPicPr>
          <p:cNvPr id="47" name="pride heart 3" descr="לב בצבעי הגאווה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567" y="5870448"/>
            <a:ext cx="566928" cy="566928"/>
          </a:xfrm>
          <a:prstGeom prst="rect">
            <a:avLst/>
          </a:prstGeom>
        </p:spPr>
      </p:pic>
      <p:pic>
        <p:nvPicPr>
          <p:cNvPr id="48" name="pride heart 4" descr="לב בצבעי הגאווה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3199" y="5870448"/>
            <a:ext cx="566928" cy="566928"/>
          </a:xfrm>
          <a:prstGeom prst="rect">
            <a:avLst/>
          </a:prstGeom>
        </p:spPr>
      </p:pic>
      <p:pic>
        <p:nvPicPr>
          <p:cNvPr id="49" name="pride heart 5" descr="לב בצבעי הגאווה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4831" y="5870448"/>
            <a:ext cx="566928" cy="566928"/>
          </a:xfrm>
          <a:prstGeom prst="rect">
            <a:avLst/>
          </a:prstGeom>
        </p:spPr>
      </p:pic>
      <p:pic>
        <p:nvPicPr>
          <p:cNvPr id="50" name="pride heart 6" descr="לב בצבעי הגאווה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6463" y="5870448"/>
            <a:ext cx="566928" cy="566928"/>
          </a:xfrm>
          <a:prstGeom prst="rect">
            <a:avLst/>
          </a:prstGeom>
        </p:spPr>
      </p:pic>
      <p:pic>
        <p:nvPicPr>
          <p:cNvPr id="81" name="IGY logo" descr="לוגו איגי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2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p 25"/>
          <p:cNvSpPr txBox="1"/>
          <p:nvPr/>
        </p:nvSpPr>
        <p:spPr>
          <a:xfrm rot="-150000">
            <a:off x="2362048" y="2880360"/>
            <a:ext cx="746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סבב היכרות</a:t>
            </a:r>
            <a:endParaRPr lang="he-IL" sz="8400" dirty="0"/>
          </a:p>
        </p:txBody>
      </p:sp>
      <p:pic>
        <p:nvPicPr>
          <p:cNvPr id="16" name="pride rainbow" descr="קשת בצבעי הגאוו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87" y="868680"/>
            <a:ext cx="3474720" cy="1824228"/>
          </a:xfrm>
          <a:prstGeom prst="rect">
            <a:avLst/>
          </a:prstGeom>
        </p:spPr>
      </p:pic>
      <p:pic>
        <p:nvPicPr>
          <p:cNvPr id="27" name="IGY logo" descr="לוגו איג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27"/>
          <p:cNvSpPr txBox="1"/>
          <p:nvPr/>
        </p:nvSpPr>
        <p:spPr>
          <a:xfrm rot="-150000">
            <a:off x="6415227" y="411480"/>
            <a:ext cx="5227828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כל אחת בתורה:</a:t>
            </a:r>
            <a:endParaRPr lang="he-IL" sz="4600" dirty="0"/>
          </a:p>
        </p:txBody>
      </p:sp>
      <p:sp>
        <p:nvSpPr>
          <p:cNvPr id="4" name="rise 28"/>
          <p:cNvSpPr txBox="1"/>
          <p:nvPr/>
        </p:nvSpPr>
        <p:spPr>
          <a:xfrm rot="-90000">
            <a:off x="8595360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5" name="pop 29" descr="Id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9189720" y="2240280"/>
            <a:ext cx="1737360" cy="1737360"/>
          </a:xfrm>
          <a:prstGeom prst="rect">
            <a:avLst/>
          </a:prstGeom>
        </p:spPr>
      </p:pic>
      <p:sp>
        <p:nvSpPr>
          <p:cNvPr id="6" name="rise 30"/>
          <p:cNvSpPr txBox="1"/>
          <p:nvPr/>
        </p:nvSpPr>
        <p:spPr>
          <a:xfrm>
            <a:off x="8686800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שם</a:t>
            </a:r>
            <a:endParaRPr lang="he-IL" sz="4400" dirty="0"/>
          </a:p>
        </p:txBody>
      </p:sp>
      <p:sp>
        <p:nvSpPr>
          <p:cNvPr id="7" name="rise 31"/>
          <p:cNvSpPr txBox="1"/>
          <p:nvPr/>
        </p:nvSpPr>
        <p:spPr>
          <a:xfrm rot="90000">
            <a:off x="4636008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8" name="pop 32" descr="CommentDo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5230368" y="2240280"/>
            <a:ext cx="1737360" cy="1737360"/>
          </a:xfrm>
          <a:prstGeom prst="rect">
            <a:avLst/>
          </a:prstGeom>
        </p:spPr>
      </p:pic>
      <p:sp>
        <p:nvSpPr>
          <p:cNvPr id="9" name="rise 33"/>
          <p:cNvSpPr txBox="1"/>
          <p:nvPr/>
        </p:nvSpPr>
        <p:spPr>
          <a:xfrm>
            <a:off x="4727448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לשון פנייה</a:t>
            </a:r>
            <a:endParaRPr lang="he-IL" sz="4400" dirty="0"/>
          </a:p>
        </p:txBody>
      </p:sp>
      <p:sp>
        <p:nvSpPr>
          <p:cNvPr id="10" name="rise 34"/>
          <p:cNvSpPr txBox="1"/>
          <p:nvPr/>
        </p:nvSpPr>
        <p:spPr>
          <a:xfrm rot="-90000">
            <a:off x="667512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11" name="pop 35" descr="Circle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60000">
            <a:off x="1261872" y="2240280"/>
            <a:ext cx="1737360" cy="1737360"/>
          </a:xfrm>
          <a:prstGeom prst="rect">
            <a:avLst/>
          </a:prstGeom>
        </p:spPr>
      </p:pic>
      <p:sp>
        <p:nvSpPr>
          <p:cNvPr id="12" name="rise 36"/>
          <p:cNvSpPr txBox="1"/>
          <p:nvPr/>
        </p:nvSpPr>
        <p:spPr>
          <a:xfrm>
            <a:off x="758952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שאלה אחת</a:t>
            </a:r>
            <a:endParaRPr lang="he-IL" sz="4400" dirty="0"/>
          </a:p>
        </p:txBody>
      </p:sp>
      <p:sp>
        <p:nvSpPr>
          <p:cNvPr id="13" name="pop 37"/>
          <p:cNvSpPr txBox="1"/>
          <p:nvPr/>
        </p:nvSpPr>
        <p:spPr>
          <a:xfrm>
            <a:off x="7671816" y="3337560"/>
            <a:ext cx="868680" cy="868680"/>
          </a:xfrm>
          <a:prstGeom prst="ellipse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8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endParaRPr lang="he-IL" sz="4800" dirty="0"/>
          </a:p>
        </p:txBody>
      </p:sp>
      <p:sp>
        <p:nvSpPr>
          <p:cNvPr id="14" name="pop 38"/>
          <p:cNvSpPr txBox="1"/>
          <p:nvPr/>
        </p:nvSpPr>
        <p:spPr>
          <a:xfrm>
            <a:off x="3712464" y="3337560"/>
            <a:ext cx="868680" cy="868680"/>
          </a:xfrm>
          <a:prstGeom prst="ellipse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8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endParaRPr lang="he-IL" sz="4800" dirty="0"/>
          </a:p>
        </p:txBody>
      </p:sp>
      <p:pic>
        <p:nvPicPr>
          <p:cNvPr id="71" name="IGY logo" descr="לוגו איגי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39"/>
          <p:cNvSpPr txBox="1"/>
          <p:nvPr/>
        </p:nvSpPr>
        <p:spPr>
          <a:xfrm rot="-150000">
            <a:off x="6076391" y="411480"/>
            <a:ext cx="5566664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בחרו שאלה אחת:</a:t>
            </a:r>
            <a:endParaRPr lang="he-IL" sz="4600" dirty="0"/>
          </a:p>
        </p:txBody>
      </p:sp>
      <p:sp>
        <p:nvSpPr>
          <p:cNvPr id="4" name="flyR 40"/>
          <p:cNvSpPr txBox="1"/>
          <p:nvPr/>
        </p:nvSpPr>
        <p:spPr>
          <a:xfrm>
            <a:off x="685800" y="178308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ה־guilty pleasure במוזיקה?</a:t>
            </a:r>
            <a:endParaRPr lang="he-IL" sz="3600" dirty="0"/>
          </a:p>
        </p:txBody>
      </p:sp>
      <p:pic>
        <p:nvPicPr>
          <p:cNvPr id="5" name="pop 41" descr="Headph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10332720" y="1728216"/>
            <a:ext cx="1371600" cy="1371600"/>
          </a:xfrm>
          <a:prstGeom prst="rect">
            <a:avLst/>
          </a:prstGeom>
        </p:spPr>
      </p:pic>
      <p:sp>
        <p:nvSpPr>
          <p:cNvPr id="6" name="flyR 42"/>
          <p:cNvSpPr txBox="1"/>
          <p:nvPr/>
        </p:nvSpPr>
        <p:spPr>
          <a:xfrm>
            <a:off x="685800" y="333756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משהו כיף שעשינו בחופש הגדול</a:t>
            </a:r>
            <a:endParaRPr lang="he-IL" sz="3600" dirty="0"/>
          </a:p>
        </p:txBody>
      </p:sp>
      <p:pic>
        <p:nvPicPr>
          <p:cNvPr id="7" name="pop 43" descr="UmbrellaBe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10332720" y="3282696"/>
            <a:ext cx="1371600" cy="1371600"/>
          </a:xfrm>
          <a:prstGeom prst="rect">
            <a:avLst/>
          </a:prstGeom>
        </p:spPr>
      </p:pic>
      <p:sp>
        <p:nvSpPr>
          <p:cNvPr id="8" name="flyR 44"/>
          <p:cNvSpPr txBox="1"/>
          <p:nvPr/>
        </p:nvSpPr>
        <p:spPr>
          <a:xfrm>
            <a:off x="685800" y="489204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רגע מסויים בו הבנתי שאנחנו קשורות לקהילה הגאה</a:t>
            </a:r>
            <a:endParaRPr lang="he-IL" sz="3600" dirty="0"/>
          </a:p>
        </p:txBody>
      </p:sp>
      <p:pic>
        <p:nvPicPr>
          <p:cNvPr id="9" name="pop 45" descr="Rainb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80000">
            <a:off x="10332720" y="4837176"/>
            <a:ext cx="1371600" cy="1371600"/>
          </a:xfrm>
          <a:prstGeom prst="rect">
            <a:avLst/>
          </a:prstGeom>
        </p:spPr>
      </p:pic>
      <p:pic>
        <p:nvPicPr>
          <p:cNvPr id="43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op 47" descr="ArrowsLeft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868680"/>
            <a:ext cx="1828800" cy="1828800"/>
          </a:xfrm>
          <a:prstGeom prst="rect">
            <a:avLst/>
          </a:prstGeom>
        </p:spPr>
      </p:pic>
      <p:sp>
        <p:nvSpPr>
          <p:cNvPr id="5" name="pop 48"/>
          <p:cNvSpPr txBox="1"/>
          <p:nvPr/>
        </p:nvSpPr>
        <p:spPr>
          <a:xfrm rot="-150000">
            <a:off x="815188" y="2880360"/>
            <a:ext cx="10561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7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7000" dirty="0"/>
          </a:p>
        </p:txBody>
      </p:sp>
      <p:sp>
        <p:nvSpPr>
          <p:cNvPr id="6" name="rise 49"/>
          <p:cNvSpPr txBox="1"/>
          <p:nvPr/>
        </p:nvSpPr>
        <p:spPr>
          <a:xfrm>
            <a:off x="914400" y="48006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עומדות על הציר לפי מה שחושבות</a:t>
            </a:r>
            <a:endParaRPr lang="he-IL" sz="3400" dirty="0"/>
          </a:p>
        </p:txBody>
      </p:sp>
      <p:pic>
        <p:nvPicPr>
          <p:cNvPr id="32" name="IGY logo" descr="לוגו איג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60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1/8</a:t>
            </a:r>
            <a:endParaRPr lang="he-IL" sz="2200" dirty="0"/>
          </a:p>
        </p:txBody>
      </p:sp>
      <p:sp>
        <p:nvSpPr>
          <p:cNvPr id="4" name="drop 61"/>
          <p:cNvSpPr txBox="1"/>
          <p:nvPr/>
        </p:nvSpPr>
        <p:spPr>
          <a:xfrm rot="120000">
            <a:off x="4975708" y="411480"/>
            <a:ext cx="224028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העדפה</a:t>
            </a:r>
            <a:endParaRPr lang="he-IL" sz="3600" dirty="0"/>
          </a:p>
        </p:txBody>
      </p:sp>
      <p:sp>
        <p:nvSpPr>
          <p:cNvPr id="5" name="flyR 62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63" descr="Snowfla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64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חורף</a:t>
            </a:r>
            <a:endParaRPr lang="he-IL" sz="6600" dirty="0"/>
          </a:p>
        </p:txBody>
      </p:sp>
      <p:sp>
        <p:nvSpPr>
          <p:cNvPr id="8" name="flyL 65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66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67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קיץ</a:t>
            </a:r>
            <a:endParaRPr lang="he-IL" sz="6600" dirty="0"/>
          </a:p>
        </p:txBody>
      </p:sp>
      <p:sp>
        <p:nvSpPr>
          <p:cNvPr id="11" name="pop 68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  <p:pic>
        <p:nvPicPr>
          <p:cNvPr id="57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69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2/8</a:t>
            </a:r>
            <a:endParaRPr lang="he-IL" sz="2200" dirty="0"/>
          </a:p>
        </p:txBody>
      </p:sp>
      <p:sp>
        <p:nvSpPr>
          <p:cNvPr id="4" name="drop 70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71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אסור לדבר בזמן שרואים סרט (גם בבית!)</a:t>
            </a:r>
            <a:endParaRPr lang="he-IL" sz="5200" dirty="0"/>
          </a:p>
        </p:txBody>
      </p:sp>
      <p:sp>
        <p:nvSpPr>
          <p:cNvPr id="6" name="flyR 72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73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74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75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76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6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77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3/8</a:t>
            </a:r>
            <a:endParaRPr lang="he-IL" sz="2200" dirty="0"/>
          </a:p>
        </p:txBody>
      </p:sp>
      <p:sp>
        <p:nvSpPr>
          <p:cNvPr id="4" name="drop 78"/>
          <p:cNvSpPr txBox="1"/>
          <p:nvPr/>
        </p:nvSpPr>
        <p:spPr>
          <a:xfrm rot="120000">
            <a:off x="4975708" y="411480"/>
            <a:ext cx="224028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העדפה</a:t>
            </a:r>
            <a:endParaRPr lang="he-IL" sz="3600" dirty="0"/>
          </a:p>
        </p:txBody>
      </p:sp>
      <p:sp>
        <p:nvSpPr>
          <p:cNvPr id="5" name="flyR 79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80" descr="PizzaSl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81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מלוח</a:t>
            </a:r>
            <a:endParaRPr lang="he-IL" sz="6600" dirty="0"/>
          </a:p>
        </p:txBody>
      </p:sp>
      <p:sp>
        <p:nvSpPr>
          <p:cNvPr id="8" name="flyL 82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83" descr="IceCre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84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מתוק</a:t>
            </a:r>
            <a:endParaRPr lang="he-IL" sz="6600" dirty="0"/>
          </a:p>
        </p:txBody>
      </p:sp>
      <p:sp>
        <p:nvSpPr>
          <p:cNvPr id="11" name="pop 85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  <p:pic>
        <p:nvPicPr>
          <p:cNvPr id="57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86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4/8</a:t>
            </a:r>
            <a:endParaRPr lang="he-IL" sz="2200" dirty="0"/>
          </a:p>
        </p:txBody>
      </p:sp>
      <p:sp>
        <p:nvSpPr>
          <p:cNvPr id="4" name="drop 87"/>
          <p:cNvSpPr txBox="1"/>
          <p:nvPr/>
        </p:nvSpPr>
        <p:spPr>
          <a:xfrm rot="120000">
            <a:off x="3915004" y="411480"/>
            <a:ext cx="4361688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עדיף לאבד?</a:t>
            </a:r>
            <a:endParaRPr lang="he-IL" sz="3600" dirty="0"/>
          </a:p>
        </p:txBody>
      </p:sp>
      <p:sp>
        <p:nvSpPr>
          <p:cNvPr id="5" name="flyR 88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89" descr="Mus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90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מוזיקה</a:t>
            </a:r>
            <a:endParaRPr lang="he-IL" sz="6600" dirty="0"/>
          </a:p>
        </p:txBody>
      </p:sp>
      <p:sp>
        <p:nvSpPr>
          <p:cNvPr id="8" name="flyL 91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92" descr="Fil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93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סרטים וסדרות</a:t>
            </a:r>
            <a:endParaRPr lang="he-IL" sz="5200" dirty="0"/>
          </a:p>
        </p:txBody>
      </p:sp>
      <p:sp>
        <p:nvSpPr>
          <p:cNvPr id="11" name="pop 94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  <p:pic>
        <p:nvPicPr>
          <p:cNvPr id="57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95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5/8</a:t>
            </a:r>
            <a:endParaRPr lang="he-IL" sz="2200" dirty="0"/>
          </a:p>
        </p:txBody>
      </p:sp>
      <p:sp>
        <p:nvSpPr>
          <p:cNvPr id="4" name="drop 96"/>
          <p:cNvSpPr txBox="1"/>
          <p:nvPr/>
        </p:nvSpPr>
        <p:spPr>
          <a:xfrm rot="120000">
            <a:off x="2986888" y="411480"/>
            <a:ext cx="621792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מה באים לאיגי?</a:t>
            </a:r>
            <a:endParaRPr lang="he-IL" sz="3600" dirty="0"/>
          </a:p>
        </p:txBody>
      </p:sp>
      <p:sp>
        <p:nvSpPr>
          <p:cNvPr id="5" name="flyR 97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98" descr="User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99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החברים</a:t>
            </a:r>
            <a:endParaRPr lang="he-IL" sz="5200" dirty="0"/>
          </a:p>
        </p:txBody>
      </p:sp>
      <p:sp>
        <p:nvSpPr>
          <p:cNvPr id="8" name="flyL 100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101" descr="Lightbu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102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התוכן</a:t>
            </a:r>
            <a:endParaRPr lang="he-IL" sz="5200" dirty="0"/>
          </a:p>
        </p:txBody>
      </p:sp>
      <p:sp>
        <p:nvSpPr>
          <p:cNvPr id="11" name="pop 103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  <p:pic>
        <p:nvPicPr>
          <p:cNvPr id="57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04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6/8</a:t>
            </a:r>
            <a:endParaRPr lang="he-IL" sz="2200" dirty="0"/>
          </a:p>
        </p:txBody>
      </p:sp>
      <p:sp>
        <p:nvSpPr>
          <p:cNvPr id="4" name="drop 105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06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יש לכל חבר בקבוצה אחריות על האווירה,</a:t>
            </a:r>
            <a:endParaRPr lang="he-IL" sz="48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רק למדריכים</a:t>
            </a:r>
            <a:endParaRPr lang="he-IL" sz="4800" dirty="0"/>
          </a:p>
        </p:txBody>
      </p:sp>
      <p:sp>
        <p:nvSpPr>
          <p:cNvPr id="6" name="flyR 107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08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09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10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11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6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12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7/8</a:t>
            </a:r>
            <a:endParaRPr lang="he-IL" sz="2200" dirty="0"/>
          </a:p>
        </p:txBody>
      </p:sp>
      <p:sp>
        <p:nvSpPr>
          <p:cNvPr id="4" name="drop 113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14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צריך להימנע מלדבר על נושאים רגישים,</a:t>
            </a:r>
            <a:endParaRPr lang="he-IL" sz="48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גם אם זה נושא חשוב</a:t>
            </a:r>
            <a:endParaRPr lang="he-IL" sz="4800" dirty="0"/>
          </a:p>
        </p:txBody>
      </p:sp>
      <p:sp>
        <p:nvSpPr>
          <p:cNvPr id="6" name="flyR 115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16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17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18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19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6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20"/>
          <p:cNvSpPr txBox="1"/>
          <p:nvPr/>
        </p:nvSpPr>
        <p:spPr>
          <a:xfrm>
            <a:off x="155448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8/8</a:t>
            </a:r>
            <a:endParaRPr lang="he-IL" sz="2200" dirty="0"/>
          </a:p>
        </p:txBody>
      </p:sp>
      <p:sp>
        <p:nvSpPr>
          <p:cNvPr id="4" name="drop 121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22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קונפליקטים בדיון</a:t>
            </a:r>
            <a:endParaRPr lang="he-IL" sz="52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זה דבר חיובי ואפילו רצוי</a:t>
            </a:r>
            <a:endParaRPr lang="he-IL" sz="5200" dirty="0"/>
          </a:p>
        </p:txBody>
      </p:sp>
      <p:sp>
        <p:nvSpPr>
          <p:cNvPr id="6" name="flyR 123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24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25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26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27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6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67EE-D7A0-D875-341D-63A324A3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GY logo" descr="לוגו איג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47" descr="Came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868680"/>
            <a:ext cx="1828800" cy="1828800"/>
          </a:xfrm>
          <a:prstGeom prst="rect">
            <a:avLst/>
          </a:prstGeom>
        </p:spPr>
      </p:pic>
      <p:sp>
        <p:nvSpPr>
          <p:cNvPr id="4" name="pop 148"/>
          <p:cNvSpPr txBox="1"/>
          <p:nvPr/>
        </p:nvSpPr>
        <p:spPr>
          <a:xfrm rot="-150000">
            <a:off x="1433932" y="2880360"/>
            <a:ext cx="932383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מוכנות לקטע חמוד?</a:t>
            </a:r>
            <a:endParaRPr lang="he-IL" sz="8400" dirty="0"/>
          </a:p>
        </p:txBody>
      </p:sp>
      <p:sp>
        <p:nvSpPr>
          <p:cNvPr id="2" name="pop 179">
            <a:hlinkClick r:id="rId4" tooltip="https://image-galery-theta.vercel.app/"/>
            <a:extLst>
              <a:ext uri="{FF2B5EF4-FFF2-40B4-BE49-F238E27FC236}">
                <a16:creationId xmlns:a16="http://schemas.microsoft.com/office/drawing/2014/main" id="{56D5605C-A5B1-341A-A7DE-E696DC63C996}"/>
              </a:ext>
            </a:extLst>
          </p:cNvPr>
          <p:cNvSpPr txBox="1"/>
          <p:nvPr/>
        </p:nvSpPr>
        <p:spPr>
          <a:xfrm>
            <a:off x="2529688" y="5349240"/>
            <a:ext cx="7132320" cy="1051560"/>
          </a:xfrm>
          <a:prstGeom prst="roundRect">
            <a:avLst>
              <a:gd name="adj" fmla="val 50000"/>
            </a:avLst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7874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קורה כשלוחצים עליי?</a:t>
            </a:r>
            <a:endParaRPr lang="he-IL" sz="3600" dirty="0"/>
          </a:p>
        </p:txBody>
      </p:sp>
      <p:pic>
        <p:nvPicPr>
          <p:cNvPr id="6" name="pop 180" descr="HandPointer">
            <a:hlinkClick r:id="rId4" tooltip="https://image-galery-theta.vercel.app/"/>
            <a:extLst>
              <a:ext uri="{FF2B5EF4-FFF2-40B4-BE49-F238E27FC236}">
                <a16:creationId xmlns:a16="http://schemas.microsoft.com/office/drawing/2014/main" id="{C5A3FDF8-F23C-53F1-981D-72327309F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80000">
            <a:off x="2026768" y="5257800"/>
            <a:ext cx="1188720" cy="1188720"/>
          </a:xfrm>
          <a:prstGeom prst="rect">
            <a:avLst/>
          </a:prstGeom>
        </p:spPr>
      </p:pic>
      <p:pic>
        <p:nvPicPr>
          <p:cNvPr id="49" name="IGY logo" descr="לוגו איגי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2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86" descr="Mug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1509811"/>
            <a:ext cx="1828800" cy="1828800"/>
          </a:xfrm>
          <a:prstGeom prst="rect">
            <a:avLst/>
          </a:prstGeom>
        </p:spPr>
      </p:pic>
      <p:sp>
        <p:nvSpPr>
          <p:cNvPr id="4" name="pop 187"/>
          <p:cNvSpPr txBox="1"/>
          <p:nvPr/>
        </p:nvSpPr>
        <p:spPr>
          <a:xfrm rot="-150000">
            <a:off x="3599536" y="3521491"/>
            <a:ext cx="4992624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הפסקה!</a:t>
            </a:r>
            <a:endParaRPr lang="he-IL" sz="8400" dirty="0"/>
          </a:p>
        </p:txBody>
      </p:sp>
      <p:pic>
        <p:nvPicPr>
          <p:cNvPr id="27" name="pride rainbow" descr="קשת בצבעי הגאוו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800600"/>
            <a:ext cx="3200400" cy="1680210"/>
          </a:xfrm>
          <a:prstGeom prst="rect">
            <a:avLst/>
          </a:prstGeom>
        </p:spPr>
      </p:pic>
      <p:pic>
        <p:nvPicPr>
          <p:cNvPr id="38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2" presetClass="emp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4A22-B788-8B6E-7955-57BFA3D2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GY logo" descr="לוגו איג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287" descr="EnvelopeOpenTex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1352155"/>
            <a:ext cx="1828800" cy="1828800"/>
          </a:xfrm>
          <a:prstGeom prst="rect">
            <a:avLst/>
          </a:prstGeom>
        </p:spPr>
      </p:pic>
      <p:sp>
        <p:nvSpPr>
          <p:cNvPr id="4" name="pop 288"/>
          <p:cNvSpPr txBox="1"/>
          <p:nvPr/>
        </p:nvSpPr>
        <p:spPr>
          <a:xfrm rot="-150000">
            <a:off x="2362048" y="3363835"/>
            <a:ext cx="746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קפסולת זמן</a:t>
            </a:r>
            <a:endParaRPr lang="he-IL" sz="8400" dirty="0"/>
          </a:p>
        </p:txBody>
      </p:sp>
      <p:pic>
        <p:nvPicPr>
          <p:cNvPr id="27" name="pride heart 1" descr="לב בצבעי הגאוו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303" y="5257800"/>
            <a:ext cx="566928" cy="566928"/>
          </a:xfrm>
          <a:prstGeom prst="rect">
            <a:avLst/>
          </a:prstGeom>
        </p:spPr>
      </p:pic>
      <p:pic>
        <p:nvPicPr>
          <p:cNvPr id="28" name="pride heart 2" descr="לב בצבעי הגאווה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935" y="5257800"/>
            <a:ext cx="566928" cy="566928"/>
          </a:xfrm>
          <a:prstGeom prst="rect">
            <a:avLst/>
          </a:prstGeom>
        </p:spPr>
      </p:pic>
      <p:pic>
        <p:nvPicPr>
          <p:cNvPr id="29" name="pride heart 3" descr="לב בצבעי הגאווה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567" y="5257800"/>
            <a:ext cx="566928" cy="566928"/>
          </a:xfrm>
          <a:prstGeom prst="rect">
            <a:avLst/>
          </a:prstGeom>
        </p:spPr>
      </p:pic>
      <p:pic>
        <p:nvPicPr>
          <p:cNvPr id="30" name="pride heart 4" descr="לב בצבעי הגאווה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3199" y="5257800"/>
            <a:ext cx="566928" cy="566928"/>
          </a:xfrm>
          <a:prstGeom prst="rect">
            <a:avLst/>
          </a:prstGeom>
        </p:spPr>
      </p:pic>
      <p:pic>
        <p:nvPicPr>
          <p:cNvPr id="31" name="pride heart 5" descr="לב בצבעי הגאווה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4831" y="5257800"/>
            <a:ext cx="566928" cy="566928"/>
          </a:xfrm>
          <a:prstGeom prst="rect">
            <a:avLst/>
          </a:prstGeom>
        </p:spPr>
      </p:pic>
      <p:pic>
        <p:nvPicPr>
          <p:cNvPr id="32" name="pride heart 6" descr="לב בצבעי הגאווה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6463" y="5257800"/>
            <a:ext cx="566928" cy="566928"/>
          </a:xfrm>
          <a:prstGeom prst="rect">
            <a:avLst/>
          </a:prstGeom>
        </p:spPr>
      </p:pic>
      <p:pic>
        <p:nvPicPr>
          <p:cNvPr id="63" name="IGY logo" descr="לוגו איגי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308"/>
          <p:cNvSpPr txBox="1"/>
          <p:nvPr/>
        </p:nvSpPr>
        <p:spPr>
          <a:xfrm rot="-150000">
            <a:off x="7431735" y="411480"/>
            <a:ext cx="4211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כותבים?</a:t>
            </a:r>
            <a:endParaRPr lang="he-IL" sz="4600" dirty="0"/>
          </a:p>
        </p:txBody>
      </p:sp>
      <p:sp>
        <p:nvSpPr>
          <p:cNvPr id="4" name="rise 309"/>
          <p:cNvSpPr txBox="1"/>
          <p:nvPr/>
        </p:nvSpPr>
        <p:spPr>
          <a:xfrm rot="72000">
            <a:off x="6263640" y="1783080"/>
            <a:ext cx="525780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5" name="pop 310" descr="St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424160" y="1463040"/>
            <a:ext cx="1325880" cy="1325880"/>
          </a:xfrm>
          <a:prstGeom prst="rect">
            <a:avLst/>
          </a:prstGeom>
        </p:spPr>
      </p:pic>
      <p:sp>
        <p:nvSpPr>
          <p:cNvPr id="6" name="rise 311"/>
          <p:cNvSpPr txBox="1"/>
          <p:nvPr/>
        </p:nvSpPr>
        <p:spPr>
          <a:xfrm>
            <a:off x="662940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4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איחולים לעצמי</a:t>
            </a:r>
            <a:endParaRPr lang="he-IL" sz="4000" dirty="0"/>
          </a:p>
        </p:txBody>
      </p:sp>
      <p:sp>
        <p:nvSpPr>
          <p:cNvPr id="7" name="rise 312"/>
          <p:cNvSpPr txBox="1"/>
          <p:nvPr/>
        </p:nvSpPr>
        <p:spPr>
          <a:xfrm>
            <a:off x="6583680" y="292608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אני מאחל/ת לעצמי עד סוף השנה?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בכל נושא, לא רק איגי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מי הייתי רוצה להיות?</a:t>
            </a:r>
            <a:endParaRPr lang="he-IL" sz="3000" dirty="0"/>
          </a:p>
        </p:txBody>
      </p:sp>
      <p:sp>
        <p:nvSpPr>
          <p:cNvPr id="8" name="rise 313"/>
          <p:cNvSpPr txBox="1"/>
          <p:nvPr/>
        </p:nvSpPr>
        <p:spPr>
          <a:xfrm rot="-72000">
            <a:off x="685800" y="1783080"/>
            <a:ext cx="525780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314" descr="Circle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4846320" y="1463040"/>
            <a:ext cx="1325880" cy="1325880"/>
          </a:xfrm>
          <a:prstGeom prst="rect">
            <a:avLst/>
          </a:prstGeom>
        </p:spPr>
      </p:pic>
      <p:sp>
        <p:nvSpPr>
          <p:cNvPr id="10" name="rise 315"/>
          <p:cNvSpPr txBox="1"/>
          <p:nvPr/>
        </p:nvSpPr>
        <p:spPr>
          <a:xfrm>
            <a:off x="105156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4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שאלות לעצמי</a:t>
            </a:r>
            <a:endParaRPr lang="he-IL" sz="4000" dirty="0"/>
          </a:p>
        </p:txBody>
      </p:sp>
      <p:sp>
        <p:nvSpPr>
          <p:cNvPr id="11" name="rise 316"/>
          <p:cNvSpPr txBox="1"/>
          <p:nvPr/>
        </p:nvSpPr>
        <p:spPr>
          <a:xfrm>
            <a:off x="1005840" y="292608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השתנה בשנה האחרונה?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איך הלך לי בבית ספר?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</a:rPr>
              <a:t>עשיתי תאוריה? רישיון נהיגה?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למי התחברתי השנה?</a:t>
            </a:r>
            <a:endParaRPr lang="he-IL" sz="3000" dirty="0"/>
          </a:p>
        </p:txBody>
      </p:sp>
      <p:pic>
        <p:nvPicPr>
          <p:cNvPr id="56" name="IGY logo" descr="לוגו איגי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330" descr="Hear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720000">
            <a:off x="777240" y="1600200"/>
            <a:ext cx="1280160" cy="1280160"/>
          </a:xfrm>
          <a:prstGeom prst="rect">
            <a:avLst/>
          </a:prstGeom>
        </p:spPr>
      </p:pic>
      <p:pic>
        <p:nvPicPr>
          <p:cNvPr id="4" name="pop 331" descr="Hear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00000">
            <a:off x="10058400" y="640080"/>
            <a:ext cx="1188720" cy="1188720"/>
          </a:xfrm>
          <a:prstGeom prst="rect">
            <a:avLst/>
          </a:prstGeom>
        </p:spPr>
      </p:pic>
      <p:pic>
        <p:nvPicPr>
          <p:cNvPr id="5" name="pop 332" descr="He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0000">
            <a:off x="731520" y="4937760"/>
            <a:ext cx="1097280" cy="1097280"/>
          </a:xfrm>
          <a:prstGeom prst="rect">
            <a:avLst/>
          </a:prstGeom>
        </p:spPr>
      </p:pic>
      <p:pic>
        <p:nvPicPr>
          <p:cNvPr id="6" name="pop 333" descr="He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480000">
            <a:off x="10241280" y="4846320"/>
            <a:ext cx="1371600" cy="1371600"/>
          </a:xfrm>
          <a:prstGeom prst="rect">
            <a:avLst/>
          </a:prstGeom>
        </p:spPr>
      </p:pic>
      <p:pic>
        <p:nvPicPr>
          <p:cNvPr id="7" name="pop 334" descr="He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5486400" y="320040"/>
            <a:ext cx="914400" cy="914400"/>
          </a:xfrm>
          <a:prstGeom prst="rect">
            <a:avLst/>
          </a:prstGeom>
        </p:spPr>
      </p:pic>
      <p:pic>
        <p:nvPicPr>
          <p:cNvPr id="8" name="pop 335" descr="He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60000">
            <a:off x="5669280" y="5760720"/>
            <a:ext cx="868680" cy="868680"/>
          </a:xfrm>
          <a:prstGeom prst="rect">
            <a:avLst/>
          </a:prstGeom>
        </p:spPr>
      </p:pic>
      <p:sp>
        <p:nvSpPr>
          <p:cNvPr id="9" name="pop 336"/>
          <p:cNvSpPr txBox="1"/>
          <p:nvPr/>
        </p:nvSpPr>
        <p:spPr>
          <a:xfrm rot="-180000">
            <a:off x="2651760" y="1920240"/>
            <a:ext cx="69037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10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שנה מעולה!</a:t>
            </a:r>
            <a:endParaRPr lang="he-IL" sz="10000" dirty="0"/>
          </a:p>
        </p:txBody>
      </p:sp>
      <p:sp>
        <p:nvSpPr>
          <p:cNvPr id="10" name="drop 337"/>
          <p:cNvSpPr txBox="1"/>
          <p:nvPr/>
        </p:nvSpPr>
        <p:spPr>
          <a:xfrm rot="120000">
            <a:off x="3611880" y="4023360"/>
            <a:ext cx="4983480" cy="96012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2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נתראה בשבוע הבא!</a:t>
            </a:r>
            <a:endParaRPr lang="he-IL" sz="4200" dirty="0"/>
          </a:p>
        </p:txBody>
      </p:sp>
      <p:pic>
        <p:nvPicPr>
          <p:cNvPr id="50" name="IGY logo" descr="לוגו איג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644</Words>
  <Application>Microsoft Macintosh PowerPoint</Application>
  <PresentationFormat>Widescreen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פעולת פתיחה - היכרות</dc:title>
  <dc:subject>תיכון כפ״ס · 14.10.2026</dc:subject>
  <dc:creator>PptxGenJS</dc:creator>
  <cp:lastModifiedBy>Yair Tetenboim</cp:lastModifiedBy>
  <cp:revision>2</cp:revision>
  <dcterms:created xsi:type="dcterms:W3CDTF">2026-10-14T11:34:52Z</dcterms:created>
  <dcterms:modified xsi:type="dcterms:W3CDTF">2026-10-14T11:49:16Z</dcterms:modified>
</cp:coreProperties>
</file>